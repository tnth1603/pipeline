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analyzes global health surveillance data spanning nearly 4 years, covering the complete epidemic cycle from initial outbreak through sustained transmission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low case fatality rate suggests effective clinical management and potentially milder disease severity compared to other recent global health emergencies.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epidemic followed a classic pattern with an initial explosive phase followed by endemic low-level transmission, indicating successful global containment efforts.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August 2022 peak represents the most critical phase of the outbreak, requiring retrospective analysis of response measures implemented during this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concentration of cases in these five countries suggests specific risk factors or transmission dynamics that require targeted intervention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DRC anomaly requires immediate investigation as it may indicate unique epidemiological factors, healthcare system challenges, or ongoing transmission chains.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recommendations prioritize resource allocation toward highest-risk areas while maintaining global surveillance capacity for early detection of potential resurgence.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Global Health Crisis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4ECDC4"/>
                </a:solidFill>
              </a:rPr>
              <a:t>179,029 Total Global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CCCEE"/>
                </a:solidFill>
              </a:rPr>
              <a:t>→  Comprehensive analysis of global health data from May 2022 - April 2026</a:t>
            </a:r>
          </a:p>
          <a:p>
            <a:r>
              <a:rPr sz="1500">
                <a:solidFill>
                  <a:srgbClr val="CCCCEE"/>
                </a:solidFill>
              </a:rPr>
              <a:t>→  Multi-year tracking of disease progression and impact</a:t>
            </a:r>
          </a:p>
          <a:p>
            <a:r>
              <a:rPr sz="1500">
                <a:solidFill>
                  <a:srgbClr val="CCCCEE"/>
                </a:solidFill>
              </a:rPr>
              <a:t>→  Assessment of 151 affected countries worldwide</a:t>
            </a:r>
          </a:p>
          <a:p>
            <a:r>
              <a:rPr sz="1500">
                <a:solidFill>
                  <a:srgbClr val="CCCCEE"/>
                </a:solidFill>
              </a:rPr>
              <a:t>→  Evidence-based public health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Global KPI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4ECDC4"/>
                </a:solidFill>
              </a:rPr>
              <a:t>0.281% Case Fatality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CCCEE"/>
                </a:solidFill>
              </a:rPr>
              <a:t>→  179,029 confirmed cases reported globally</a:t>
            </a:r>
          </a:p>
          <a:p>
            <a:r>
              <a:rPr sz="1500">
                <a:solidFill>
                  <a:srgbClr val="CCCCEE"/>
                </a:solidFill>
              </a:rPr>
              <a:t>→  503 total deaths recorded across all affected regions</a:t>
            </a:r>
          </a:p>
          <a:p>
            <a:r>
              <a:rPr sz="1500">
                <a:solidFill>
                  <a:srgbClr val="CCCCEE"/>
                </a:solidFill>
              </a:rPr>
              <a:t>→  Case fatality rate of 0.281% indicates relatively low mortality</a:t>
            </a:r>
          </a:p>
          <a:p>
            <a:r>
              <a:rPr sz="1500">
                <a:solidFill>
                  <a:srgbClr val="CCCCEE"/>
                </a:solidFill>
              </a:rPr>
              <a:t>→  151 countries affected demonstrating widespread geographic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Epidemic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4ECDC4"/>
                </a:solidFill>
              </a:rPr>
              <a:t>4-Year Transmission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CCCEE"/>
                </a:solidFill>
              </a:rPr>
              <a:t>→  Sharp epidemic peak occurred in August 2022 with rapid subsequent decline</a:t>
            </a:r>
          </a:p>
          <a:p>
            <a:r>
              <a:rPr sz="1500">
                <a:solidFill>
                  <a:srgbClr val="CCCCEE"/>
                </a:solidFill>
              </a:rPr>
              <a:t>→  Transition to sustained low-level transmission phase through 2025-2026</a:t>
            </a:r>
          </a:p>
          <a:p>
            <a:r>
              <a:rPr sz="1500">
                <a:solidFill>
                  <a:srgbClr val="CCCCEE"/>
                </a:solidFill>
              </a:rPr>
              <a:t>→  Geographic concentration primarily in North America, Africa, and South America</a:t>
            </a:r>
          </a:p>
          <a:p>
            <a:r>
              <a:rPr sz="1500">
                <a:solidFill>
                  <a:srgbClr val="CCCCEE"/>
                </a:solidFill>
              </a:rPr>
              <a:t>→  Minimal new case reporting in recent surveillance periods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Peak Impact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4ECDC4"/>
                </a:solidFill>
              </a:rPr>
              <a:t>5,997 Peak Daily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CCCEE"/>
                </a:solidFill>
              </a:rPr>
              <a:t>→  Maximum daily new cases reached 5,997 on August 1, 2022</a:t>
            </a:r>
          </a:p>
          <a:p>
            <a:r>
              <a:rPr sz="1500">
                <a:solidFill>
                  <a:srgbClr val="CCCCEE"/>
                </a:solidFill>
              </a:rPr>
              <a:t>→  Peak occurred approximately 3 months into the surveillance period</a:t>
            </a:r>
          </a:p>
          <a:p>
            <a:r>
              <a:rPr sz="1500">
                <a:solidFill>
                  <a:srgbClr val="CCCCEE"/>
                </a:solidFill>
              </a:rPr>
              <a:t>→  Rapid decline in cases following peak suggests effective interventions</a:t>
            </a:r>
          </a:p>
          <a:p>
            <a:r>
              <a:rPr sz="1500">
                <a:solidFill>
                  <a:srgbClr val="CCCCEE"/>
                </a:solidFill>
              </a:rPr>
              <a:t>→  Current phase characterized by sporadic case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Top Affected Countries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4ECDC4"/>
                </a:solidFill>
              </a:rPr>
              <a:t>5 Countries Account for 58% of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CCCEE"/>
                </a:solidFill>
              </a:rPr>
              <a:t>→  United States leads with 37,530 total cases</a:t>
            </a:r>
          </a:p>
          <a:p>
            <a:r>
              <a:rPr sz="1500">
                <a:solidFill>
                  <a:srgbClr val="CCCCEE"/>
                </a:solidFill>
              </a:rPr>
              <a:t>→  Democratic Republic of Congo reports 34,011 cases indicating endemic patterns</a:t>
            </a:r>
          </a:p>
          <a:p>
            <a:r>
              <a:rPr sz="1500">
                <a:solidFill>
                  <a:srgbClr val="CCCCEE"/>
                </a:solidFill>
              </a:rPr>
              <a:t>→  Brazil follows with 15,027 cases in South American region</a:t>
            </a:r>
          </a:p>
          <a:p>
            <a:r>
              <a:rPr sz="1500">
                <a:solidFill>
                  <a:srgbClr val="CCCCEE"/>
                </a:solidFill>
              </a:rPr>
              <a:t>→  Spain accounts for 9,454 cases in European context</a:t>
            </a:r>
          </a:p>
          <a:p>
            <a:r>
              <a:rPr sz="1500">
                <a:solidFill>
                  <a:srgbClr val="CCCCEE"/>
                </a:solidFill>
              </a:rPr>
              <a:t>→  Uganda contributes 8,512 cases in East African region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Anomalies &amp; Risk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4ECDC4"/>
                </a:solidFill>
              </a:rPr>
              <a:t>34,011 DRC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CCCEE"/>
                </a:solidFill>
              </a:rPr>
              <a:t>→  Democratic Republic of Congo shows unusually high burden suggesting endemic transmission</a:t>
            </a:r>
          </a:p>
          <a:p>
            <a:r>
              <a:rPr sz="1500">
                <a:solidFill>
                  <a:srgbClr val="CCCCEE"/>
                </a:solidFill>
              </a:rPr>
              <a:t>→  Dataset extends to April 2026 indicating projections or data quality concerns</a:t>
            </a:r>
          </a:p>
          <a:p>
            <a:r>
              <a:rPr sz="1500">
                <a:solidFill>
                  <a:srgbClr val="CCCCEE"/>
                </a:solidFill>
              </a:rPr>
              <a:t>→  Disproportionate case distribution across geographic regions</a:t>
            </a:r>
          </a:p>
          <a:p>
            <a:r>
              <a:rPr sz="1500">
                <a:solidFill>
                  <a:srgbClr val="CCCCEE"/>
                </a:solidFill>
              </a:rPr>
              <a:t>→  Sustained transmission patterns in select African countries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Public Health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371600"/>
            <a:ext cx="3017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4ECDC4"/>
                </a:solidFill>
              </a:rPr>
              <a:t>3 Priority Action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046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CCCCEE"/>
                </a:solidFill>
              </a:rPr>
              <a:t>→  Maintain enhanced surveillance in high-burden African countries, especially DRC and Uganda</a:t>
            </a:r>
          </a:p>
          <a:p>
            <a:r>
              <a:rPr sz="1500">
                <a:solidFill>
                  <a:srgbClr val="CCCCEE"/>
                </a:solidFill>
              </a:rPr>
              <a:t>→  Strengthen global preparedness systems for potential resurgence scenarios</a:t>
            </a:r>
          </a:p>
          <a:p>
            <a:r>
              <a:rPr sz="1500">
                <a:solidFill>
                  <a:srgbClr val="CCCCEE"/>
                </a:solidFill>
              </a:rPr>
              <a:t>→  Redirect resources to countries with active transmission rather than stable regions</a:t>
            </a:r>
          </a:p>
          <a:p>
            <a:r>
              <a:rPr sz="1500">
                <a:solidFill>
                  <a:srgbClr val="CCCCEE"/>
                </a:solidFill>
              </a:rPr>
              <a:t>→  Implement targeted interventions based on geographic risk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